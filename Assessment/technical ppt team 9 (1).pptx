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312" r:id="rId2"/>
    <p:sldId id="257" r:id="rId3"/>
    <p:sldId id="258" r:id="rId4"/>
    <p:sldId id="259" r:id="rId5"/>
    <p:sldId id="260" r:id="rId6"/>
    <p:sldId id="261" r:id="rId7"/>
    <p:sldId id="262" r:id="rId8"/>
    <p:sldId id="263" r:id="rId9"/>
    <p:sldId id="313" r:id="rId10"/>
    <p:sldId id="314" r:id="rId11"/>
    <p:sldId id="315" r:id="rId12"/>
    <p:sldId id="316" r:id="rId13"/>
    <p:sldId id="317" r:id="rId14"/>
    <p:sldId id="264" r:id="rId15"/>
    <p:sldId id="265" r:id="rId16"/>
    <p:sldId id="31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8/13/2026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8/13/2026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8/13/2026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8/13/2026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8/13/2026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8/13/2026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8/13/2026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8/13/2026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8/13/2026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8/13/2026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8/13/2026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8/13/2026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8/13/2026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8/13/2026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8/13/2026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8/13/2026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8/13/2026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8/13/2026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mailto:MEENA@GMAIL.CO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AAAF75-5F54-80BD-8276-B9B88498351A}"/>
              </a:ext>
            </a:extLst>
          </p:cNvPr>
          <p:cNvSpPr/>
          <p:nvPr/>
        </p:nvSpPr>
        <p:spPr>
          <a:xfrm>
            <a:off x="178866" y="101336"/>
            <a:ext cx="11834267" cy="659997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9" name="Title 1"/>
          <p:cNvSpPr txBox="1">
            <a:spLocks/>
          </p:cNvSpPr>
          <p:nvPr/>
        </p:nvSpPr>
        <p:spPr>
          <a:xfrm>
            <a:off x="1524000" y="2362200"/>
            <a:ext cx="9245600" cy="1295400"/>
          </a:xfrm>
          <a:prstGeom prst="rect">
            <a:avLst/>
          </a:prstGeom>
        </p:spPr>
        <p:txBody>
          <a:bodyPr vert="horz" lIns="91440" tIns="45720" rIns="91440" bIns="45720" rtlCol="0" anchor="ctr">
            <a:normAutofit/>
          </a:bodyPr>
          <a:lstStyle/>
          <a:p>
            <a:pPr lvl="0" algn="ctr">
              <a:spcBef>
                <a:spcPct val="0"/>
              </a:spcBef>
            </a:pPr>
            <a:endParaRPr kumimoji="0" lang="en-US" sz="2000" b="1" i="0" u="none" strike="noStrike" kern="1200" cap="none" spc="0" normalizeH="0" baseline="0" noProof="0">
              <a:ln>
                <a:noFill/>
              </a:ln>
              <a:solidFill>
                <a:schemeClr val="tx1"/>
              </a:solidFill>
              <a:effectLst/>
              <a:uLnTx/>
              <a:uFillTx/>
              <a:latin typeface="Times New Roman" pitchFamily="18" charset="0"/>
              <a:ea typeface="+mj-ea"/>
              <a:cs typeface="Times New Roman" pitchFamily="18" charset="0"/>
            </a:endParaRPr>
          </a:p>
        </p:txBody>
      </p:sp>
      <p:pic>
        <p:nvPicPr>
          <p:cNvPr id="3" name="Picture 2"/>
          <p:cNvPicPr>
            <a:picLocks noChangeAspect="1"/>
          </p:cNvPicPr>
          <p:nvPr/>
        </p:nvPicPr>
        <p:blipFill>
          <a:blip r:embed="rId2"/>
          <a:stretch>
            <a:fillRect/>
          </a:stretch>
        </p:blipFill>
        <p:spPr>
          <a:xfrm>
            <a:off x="380098" y="207016"/>
            <a:ext cx="10887597" cy="1957262"/>
          </a:xfrm>
          <a:prstGeom prst="rect">
            <a:avLst/>
          </a:prstGeom>
        </p:spPr>
      </p:pic>
      <p:sp>
        <p:nvSpPr>
          <p:cNvPr id="7" name="TextBox 6">
            <a:extLst>
              <a:ext uri="{FF2B5EF4-FFF2-40B4-BE49-F238E27FC236}">
                <a16:creationId xmlns:a16="http://schemas.microsoft.com/office/drawing/2014/main" id="{7E70E743-3132-7F22-01A0-2F451B3FBED2}"/>
              </a:ext>
            </a:extLst>
          </p:cNvPr>
          <p:cNvSpPr txBox="1"/>
          <p:nvPr/>
        </p:nvSpPr>
        <p:spPr>
          <a:xfrm>
            <a:off x="380098" y="2220926"/>
            <a:ext cx="11160596" cy="523220"/>
          </a:xfrm>
          <a:prstGeom prst="rect">
            <a:avLst/>
          </a:prstGeom>
          <a:noFill/>
        </p:spPr>
        <p:txBody>
          <a:bodyPr wrap="square">
            <a:spAutoFit/>
          </a:bodyPr>
          <a:lstStyle/>
          <a:p>
            <a:pPr algn="ctr"/>
            <a:r>
              <a:rPr lang="en-IN" sz="2800" b="1"/>
              <a:t>Automating Data Cleaning with Python</a:t>
            </a:r>
          </a:p>
        </p:txBody>
      </p:sp>
      <p:sp>
        <p:nvSpPr>
          <p:cNvPr id="8" name="Rectangle 1">
            <a:extLst>
              <a:ext uri="{FF2B5EF4-FFF2-40B4-BE49-F238E27FC236}">
                <a16:creationId xmlns:a16="http://schemas.microsoft.com/office/drawing/2014/main" id="{07FE4D90-F6EB-D25D-AF7B-E021C3404DFF}"/>
              </a:ext>
            </a:extLst>
          </p:cNvPr>
          <p:cNvSpPr>
            <a:spLocks noChangeArrowheads="1"/>
          </p:cNvSpPr>
          <p:nvPr/>
        </p:nvSpPr>
        <p:spPr bwMode="auto">
          <a:xfrm>
            <a:off x="1512888" y="36655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TextBox 11">
            <a:extLst>
              <a:ext uri="{FF2B5EF4-FFF2-40B4-BE49-F238E27FC236}">
                <a16:creationId xmlns:a16="http://schemas.microsoft.com/office/drawing/2014/main" id="{12BFBAEE-CD35-0C87-D4B9-208E3DA157F9}"/>
              </a:ext>
            </a:extLst>
          </p:cNvPr>
          <p:cNvSpPr txBox="1"/>
          <p:nvPr/>
        </p:nvSpPr>
        <p:spPr>
          <a:xfrm>
            <a:off x="1234945" y="3335366"/>
            <a:ext cx="972210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b="1">
                <a:latin typeface="Times" panose="02020603050405020304" pitchFamily="18" charset="0"/>
                <a:cs typeface="Times" panose="02020603050405020304" pitchFamily="18" charset="0"/>
              </a:rPr>
              <a:t>DSA0503 –QUERRY PROCESSING</a:t>
            </a:r>
            <a:endParaRPr lang="en-IN" sz="3600" b="1" dirty="0">
              <a:latin typeface="Times" panose="02020603050405020304" pitchFamily="18" charset="0"/>
              <a:cs typeface="Times" panose="02020603050405020304" pitchFamily="18" charset="0"/>
            </a:endParaRPr>
          </a:p>
        </p:txBody>
      </p:sp>
      <p:sp>
        <p:nvSpPr>
          <p:cNvPr id="13" name="TextBox 4">
            <a:extLst>
              <a:ext uri="{FF2B5EF4-FFF2-40B4-BE49-F238E27FC236}">
                <a16:creationId xmlns:a16="http://schemas.microsoft.com/office/drawing/2014/main" id="{D437083C-755B-B357-C74E-8ACAA76DDE21}"/>
              </a:ext>
            </a:extLst>
          </p:cNvPr>
          <p:cNvSpPr txBox="1"/>
          <p:nvPr/>
        </p:nvSpPr>
        <p:spPr>
          <a:xfrm>
            <a:off x="339092" y="3928524"/>
            <a:ext cx="5621304" cy="219143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latin typeface="Times New Roman" panose="02020603050405020304" pitchFamily="18" charset="0"/>
                <a:cs typeface="Times New Roman" panose="02020603050405020304" pitchFamily="18" charset="0"/>
              </a:rPr>
              <a:t>PRESENTED </a:t>
            </a:r>
            <a:r>
              <a:rPr lang="en-US" sz="2000" b="1">
                <a:latin typeface="Times New Roman" panose="02020603050405020304" pitchFamily="18" charset="0"/>
                <a:cs typeface="Times New Roman" panose="02020603050405020304" pitchFamily="18" charset="0"/>
              </a:rPr>
              <a:t>BY </a:t>
            </a:r>
            <a:r>
              <a:rPr lang="en-US" sz="1600" b="1">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HARIHARAN G(</a:t>
            </a:r>
            <a:r>
              <a:rPr lang="en-US" sz="2000">
                <a:latin typeface="Times New Roman" panose="02020603050405020304" pitchFamily="18" charset="0"/>
                <a:cs typeface="Times New Roman" panose="02020603050405020304" pitchFamily="18" charset="0"/>
              </a:rPr>
              <a:t>192424156)</a:t>
            </a:r>
          </a:p>
          <a:p>
            <a:pPr>
              <a:lnSpc>
                <a:spcPct val="150000"/>
              </a:lnSpc>
            </a:pPr>
            <a:r>
              <a:rPr lang="en-US" sz="2000">
                <a:latin typeface="Times New Roman" panose="02020603050405020304" pitchFamily="18" charset="0"/>
                <a:cs typeface="Times New Roman" panose="02020603050405020304" pitchFamily="18" charset="0"/>
              </a:rPr>
              <a:t>NAVEEN  V(192424126)</a:t>
            </a:r>
          </a:p>
          <a:p>
            <a:pPr>
              <a:lnSpc>
                <a:spcPct val="150000"/>
              </a:lnSpc>
            </a:pPr>
            <a:r>
              <a:rPr lang="en-US" sz="2000">
                <a:latin typeface="Times New Roman" panose="02020603050405020304" pitchFamily="18" charset="0"/>
                <a:cs typeface="Times New Roman" panose="02020603050405020304" pitchFamily="18" charset="0"/>
              </a:rPr>
              <a:t>VISHWA T(192424180)</a:t>
            </a: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14" name="TextBox 1">
            <a:extLst>
              <a:ext uri="{FF2B5EF4-FFF2-40B4-BE49-F238E27FC236}">
                <a16:creationId xmlns:a16="http://schemas.microsoft.com/office/drawing/2014/main" id="{2DC00E92-BBDC-F8F1-7B63-A6449248DC64}"/>
              </a:ext>
            </a:extLst>
          </p:cNvPr>
          <p:cNvSpPr txBox="1"/>
          <p:nvPr/>
        </p:nvSpPr>
        <p:spPr>
          <a:xfrm>
            <a:off x="7871381" y="4758058"/>
            <a:ext cx="3396314" cy="113877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latin typeface="Times New Roman" panose="02020603050405020304" pitchFamily="18" charset="0"/>
                <a:cs typeface="Times New Roman" panose="02020603050405020304" pitchFamily="18" charset="0"/>
              </a:rPr>
              <a:t>GUIDED BY:</a:t>
            </a:r>
          </a:p>
          <a:p>
            <a:endParaRPr lang="en-US" sz="2000" b="1" dirty="0">
              <a:latin typeface="Times New Roman" panose="02020603050405020304" pitchFamily="18" charset="0"/>
              <a:cs typeface="Times New Roman" panose="02020603050405020304" pitchFamily="18" charset="0"/>
            </a:endParaRPr>
          </a:p>
          <a:p>
            <a:r>
              <a:rPr lang="en-IN" sz="2400">
                <a:latin typeface="Times" panose="02020603050405020304" pitchFamily="18" charset="0"/>
                <a:cs typeface="Times" panose="02020603050405020304" pitchFamily="18" charset="0"/>
              </a:rPr>
              <a:t>Dr .ANURADHA C</a:t>
            </a:r>
            <a:endParaRPr lang="en-US" sz="2800" dirty="0">
              <a:latin typeface="Times" panose="02020603050405020304" pitchFamily="18" charset="0"/>
              <a:cs typeface="Times"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D7011-AFFB-2434-A087-D30F6FFF0E10}"/>
              </a:ext>
            </a:extLst>
          </p:cNvPr>
          <p:cNvSpPr>
            <a:spLocks noGrp="1"/>
          </p:cNvSpPr>
          <p:nvPr>
            <p:ph type="title"/>
          </p:nvPr>
        </p:nvSpPr>
        <p:spPr/>
        <p:txBody>
          <a:bodyPr/>
          <a:lstStyle/>
          <a:p>
            <a:r>
              <a:rPr lang="en-IN">
                <a:latin typeface="Times" panose="02020603050405020304" pitchFamily="18" charset="0"/>
                <a:cs typeface="Times" panose="02020603050405020304" pitchFamily="18" charset="0"/>
              </a:rPr>
              <a:t>1. Abstract</a:t>
            </a:r>
            <a:br>
              <a:rPr lang="en-IN">
                <a:latin typeface="Times" panose="02020603050405020304" pitchFamily="18" charset="0"/>
                <a:cs typeface="Times" panose="02020603050405020304" pitchFamily="18" charset="0"/>
              </a:rPr>
            </a:br>
            <a:endParaRPr lang="en-IN">
              <a:latin typeface="Times" panose="02020603050405020304" pitchFamily="18" charset="0"/>
              <a:cs typeface="Times" panose="02020603050405020304" pitchFamily="18" charset="0"/>
            </a:endParaRPr>
          </a:p>
        </p:txBody>
      </p:sp>
      <p:sp>
        <p:nvSpPr>
          <p:cNvPr id="3" name="Content Placeholder 2">
            <a:extLst>
              <a:ext uri="{FF2B5EF4-FFF2-40B4-BE49-F238E27FC236}">
                <a16:creationId xmlns:a16="http://schemas.microsoft.com/office/drawing/2014/main" id="{612648B5-AE65-0D2A-CE3C-2DF31CD21580}"/>
              </a:ext>
            </a:extLst>
          </p:cNvPr>
          <p:cNvSpPr>
            <a:spLocks noGrp="1"/>
          </p:cNvSpPr>
          <p:nvPr>
            <p:ph idx="1"/>
          </p:nvPr>
        </p:nvSpPr>
        <p:spPr>
          <a:xfrm>
            <a:off x="1390928" y="2731319"/>
            <a:ext cx="8825659" cy="3416300"/>
          </a:xfrm>
        </p:spPr>
        <p:txBody>
          <a:bodyPr>
            <a:normAutofit/>
          </a:bodyPr>
          <a:lstStyle/>
          <a:p>
            <a:pPr algn="just"/>
            <a:r>
              <a:rPr lang="en-IN" sz="2000">
                <a:latin typeface="Times" panose="02020603050405020304" pitchFamily="18" charset="0"/>
                <a:cs typeface="Times" panose="02020603050405020304" pitchFamily="18" charset="0"/>
              </a:rPr>
              <a:t>Data cleaning is an important step in data analysis because real-world datasets often contain missing, duplicate, inconsistent, and invalid values. This project demonstrates how Python and the Pandas library can be used to automate the data-cleaning process. The customer dataset contains problems such as duplicate records, missing ages and emails, invalid ages, inconsistent city names, uppercase emails, and negative purchase amounts. The proposed system identifies and handles these issues automatically, producing a clean and consistent dataset suitable for further analysis.</a:t>
            </a:r>
          </a:p>
          <a:p>
            <a:pPr algn="just"/>
            <a:endParaRPr lang="en-IN" sz="200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033893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F3EFE-A51B-06C2-31D1-4F33C349A6A9}"/>
              </a:ext>
            </a:extLst>
          </p:cNvPr>
          <p:cNvSpPr>
            <a:spLocks noGrp="1"/>
          </p:cNvSpPr>
          <p:nvPr>
            <p:ph type="title"/>
          </p:nvPr>
        </p:nvSpPr>
        <p:spPr/>
        <p:txBody>
          <a:bodyPr/>
          <a:lstStyle/>
          <a:p>
            <a:r>
              <a:rPr lang="en-IN"/>
              <a:t>2. Introduction</a:t>
            </a:r>
          </a:p>
        </p:txBody>
      </p:sp>
      <p:sp>
        <p:nvSpPr>
          <p:cNvPr id="3" name="Content Placeholder 2">
            <a:extLst>
              <a:ext uri="{FF2B5EF4-FFF2-40B4-BE49-F238E27FC236}">
                <a16:creationId xmlns:a16="http://schemas.microsoft.com/office/drawing/2014/main" id="{8195D941-735D-BF8D-A7B7-21367737963C}"/>
              </a:ext>
            </a:extLst>
          </p:cNvPr>
          <p:cNvSpPr>
            <a:spLocks noGrp="1"/>
          </p:cNvSpPr>
          <p:nvPr>
            <p:ph idx="1"/>
          </p:nvPr>
        </p:nvSpPr>
        <p:spPr/>
        <p:txBody>
          <a:bodyPr/>
          <a:lstStyle/>
          <a:p>
            <a:r>
              <a:rPr lang="en-IN">
                <a:latin typeface="Times" panose="02020603050405020304" pitchFamily="18" charset="0"/>
                <a:cs typeface="Times" panose="02020603050405020304" pitchFamily="18" charset="0"/>
              </a:rPr>
              <a:t>Data cleaning is the process of detecting and correcting inaccurate, incomplete, duplicate, or inconsistent data.</a:t>
            </a:r>
          </a:p>
          <a:p>
            <a:r>
              <a:rPr lang="en-IN">
                <a:latin typeface="Times" panose="02020603050405020304" pitchFamily="18" charset="0"/>
                <a:cs typeface="Times" panose="02020603050405020304" pitchFamily="18" charset="0"/>
              </a:rPr>
              <a:t>Manual data cleaning can be time-consuming and error-prone, especially when working with large datasets. Python provides powerful libraries such as Pandas that can automate common cleaning operations.</a:t>
            </a:r>
          </a:p>
          <a:p>
            <a:r>
              <a:rPr lang="en-IN">
                <a:latin typeface="Times" panose="02020603050405020304" pitchFamily="18" charset="0"/>
                <a:cs typeface="Times" panose="02020603050405020304" pitchFamily="18" charset="0"/>
              </a:rPr>
              <a:t>This project uses Python to clean a customer dataset and demonstrate how data-quality problems can be handled systematically.</a:t>
            </a:r>
          </a:p>
          <a:p>
            <a:endParaRPr lang="en-IN">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217922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36646-B4AC-E754-AD2F-06AE979F2FA7}"/>
              </a:ext>
            </a:extLst>
          </p:cNvPr>
          <p:cNvSpPr>
            <a:spLocks noGrp="1"/>
          </p:cNvSpPr>
          <p:nvPr>
            <p:ph type="title"/>
          </p:nvPr>
        </p:nvSpPr>
        <p:spPr/>
        <p:txBody>
          <a:bodyPr/>
          <a:lstStyle/>
          <a:p>
            <a:r>
              <a:rPr lang="en-IN"/>
              <a:t>3. Literature Review</a:t>
            </a:r>
          </a:p>
        </p:txBody>
      </p:sp>
      <p:sp>
        <p:nvSpPr>
          <p:cNvPr id="3" name="Content Placeholder 2">
            <a:extLst>
              <a:ext uri="{FF2B5EF4-FFF2-40B4-BE49-F238E27FC236}">
                <a16:creationId xmlns:a16="http://schemas.microsoft.com/office/drawing/2014/main" id="{8D40F559-364C-56EC-56D4-385A153D28B1}"/>
              </a:ext>
            </a:extLst>
          </p:cNvPr>
          <p:cNvSpPr>
            <a:spLocks noGrp="1"/>
          </p:cNvSpPr>
          <p:nvPr>
            <p:ph idx="1"/>
          </p:nvPr>
        </p:nvSpPr>
        <p:spPr>
          <a:xfrm>
            <a:off x="1154954" y="2613332"/>
            <a:ext cx="8825659" cy="3416300"/>
          </a:xfrm>
        </p:spPr>
        <p:txBody>
          <a:bodyPr/>
          <a:lstStyle/>
          <a:p>
            <a:r>
              <a:rPr lang="en-IN">
                <a:latin typeface="Times" panose="02020603050405020304" pitchFamily="18" charset="0"/>
                <a:cs typeface="Times" panose="02020603050405020304" pitchFamily="18" charset="0"/>
              </a:rPr>
              <a:t>Pandas is widely used for data manipulation and preprocessing in Python. It provides functions for detecting duplicates, handling missing values, filtering invalid records, and transforming data.</a:t>
            </a:r>
          </a:p>
          <a:p>
            <a:r>
              <a:rPr lang="en-IN">
                <a:latin typeface="Times" panose="02020603050405020304" pitchFamily="18" charset="0"/>
                <a:cs typeface="Times" panose="02020603050405020304" pitchFamily="18" charset="0"/>
              </a:rPr>
              <a:t>Data preprocessing studies show that data quality has a major effect on the reliability of data analysis and machine-learning models.</a:t>
            </a:r>
          </a:p>
          <a:p>
            <a:r>
              <a:rPr lang="en-IN">
                <a:latin typeface="Times" panose="02020603050405020304" pitchFamily="18" charset="0"/>
                <a:cs typeface="Times" panose="02020603050405020304" pitchFamily="18" charset="0"/>
              </a:rPr>
              <a:t>Common data-cleaning techniques include missing-value imputation, duplicate removal, data validation, text standardization, and handling abnormal values.</a:t>
            </a:r>
          </a:p>
          <a:p>
            <a:r>
              <a:rPr lang="en-IN">
                <a:latin typeface="Times" panose="02020603050405020304" pitchFamily="18" charset="0"/>
                <a:cs typeface="Times" panose="02020603050405020304" pitchFamily="18" charset="0"/>
              </a:rPr>
              <a:t>Automation makes these operations repeatable, faster, and less prone to manual errors.</a:t>
            </a:r>
          </a:p>
          <a:p>
            <a:endParaRPr lang="en-IN">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4253521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ABA7-9AFF-2106-3DF5-594E197FC4B5}"/>
              </a:ext>
            </a:extLst>
          </p:cNvPr>
          <p:cNvSpPr>
            <a:spLocks noGrp="1"/>
          </p:cNvSpPr>
          <p:nvPr>
            <p:ph type="title"/>
          </p:nvPr>
        </p:nvSpPr>
        <p:spPr/>
        <p:txBody>
          <a:bodyPr/>
          <a:lstStyle/>
          <a:p>
            <a:r>
              <a:rPr lang="en-IN"/>
              <a:t>4. Objectives</a:t>
            </a:r>
          </a:p>
        </p:txBody>
      </p:sp>
      <p:sp>
        <p:nvSpPr>
          <p:cNvPr id="3" name="Content Placeholder 2">
            <a:extLst>
              <a:ext uri="{FF2B5EF4-FFF2-40B4-BE49-F238E27FC236}">
                <a16:creationId xmlns:a16="http://schemas.microsoft.com/office/drawing/2014/main" id="{FE667D00-69CD-FD40-C0E1-4E5E0E001AF8}"/>
              </a:ext>
            </a:extLst>
          </p:cNvPr>
          <p:cNvSpPr>
            <a:spLocks noGrp="1"/>
          </p:cNvSpPr>
          <p:nvPr>
            <p:ph idx="1"/>
          </p:nvPr>
        </p:nvSpPr>
        <p:spPr/>
        <p:txBody>
          <a:bodyPr>
            <a:normAutofit/>
          </a:bodyPr>
          <a:lstStyle/>
          <a:p>
            <a:pPr lvl="0"/>
            <a:r>
              <a:rPr lang="en-IN" sz="2000">
                <a:latin typeface="Times" panose="02020603050405020304" pitchFamily="18" charset="0"/>
                <a:cs typeface="Times" panose="02020603050405020304" pitchFamily="18" charset="0"/>
              </a:rPr>
              <a:t>To identify data-quality problems automatically.</a:t>
            </a:r>
          </a:p>
          <a:p>
            <a:pPr lvl="0"/>
            <a:r>
              <a:rPr lang="en-IN" sz="2000">
                <a:latin typeface="Times" panose="02020603050405020304" pitchFamily="18" charset="0"/>
                <a:cs typeface="Times" panose="02020603050405020304" pitchFamily="18" charset="0"/>
              </a:rPr>
              <a:t>To remove duplicate customer records.</a:t>
            </a:r>
          </a:p>
          <a:p>
            <a:pPr lvl="0"/>
            <a:r>
              <a:rPr lang="en-IN" sz="2000">
                <a:latin typeface="Times" panose="02020603050405020304" pitchFamily="18" charset="0"/>
                <a:cs typeface="Times" panose="02020603050405020304" pitchFamily="18" charset="0"/>
              </a:rPr>
              <a:t>To handle missing and invalid age values.</a:t>
            </a:r>
          </a:p>
          <a:p>
            <a:pPr lvl="0"/>
            <a:r>
              <a:rPr lang="en-IN" sz="2000">
                <a:latin typeface="Times" panose="02020603050405020304" pitchFamily="18" charset="0"/>
                <a:cs typeface="Times" panose="02020603050405020304" pitchFamily="18" charset="0"/>
              </a:rPr>
              <a:t>To handle missing email values.</a:t>
            </a:r>
          </a:p>
          <a:p>
            <a:pPr lvl="0"/>
            <a:r>
              <a:rPr lang="en-IN" sz="2000">
                <a:latin typeface="Times" panose="02020603050405020304" pitchFamily="18" charset="0"/>
                <a:cs typeface="Times" panose="02020603050405020304" pitchFamily="18" charset="0"/>
              </a:rPr>
              <a:t>To standardize email and city formats.</a:t>
            </a:r>
          </a:p>
          <a:p>
            <a:pPr lvl="0"/>
            <a:r>
              <a:rPr lang="en-IN" sz="2000">
                <a:latin typeface="Times" panose="02020603050405020304" pitchFamily="18" charset="0"/>
                <a:cs typeface="Times" panose="02020603050405020304" pitchFamily="18" charset="0"/>
              </a:rPr>
              <a:t>To detect and handle negative purchase amounts.</a:t>
            </a:r>
          </a:p>
          <a:p>
            <a:pPr lvl="0"/>
            <a:r>
              <a:rPr lang="en-IN" sz="2000">
                <a:latin typeface="Times" panose="02020603050405020304" pitchFamily="18" charset="0"/>
                <a:cs typeface="Times" panose="02020603050405020304" pitchFamily="18" charset="0"/>
              </a:rPr>
              <a:t>To generate a clean dataset suitable for further analysis.</a:t>
            </a:r>
          </a:p>
          <a:p>
            <a:pPr marL="0" indent="0">
              <a:buNone/>
            </a:pPr>
            <a:endParaRPr lang="en-IN" sz="200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1578669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D9F36-10DC-702F-E85F-F00A9CDADF51}"/>
              </a:ext>
            </a:extLst>
          </p:cNvPr>
          <p:cNvSpPr>
            <a:spLocks noGrp="1"/>
          </p:cNvSpPr>
          <p:nvPr>
            <p:ph type="title"/>
          </p:nvPr>
        </p:nvSpPr>
        <p:spPr/>
        <p:txBody>
          <a:bodyPr/>
          <a:lstStyle/>
          <a:p>
            <a:r>
              <a:rPr lang="en-IN"/>
              <a:t>5. Problem Statement</a:t>
            </a:r>
          </a:p>
        </p:txBody>
      </p:sp>
      <p:sp>
        <p:nvSpPr>
          <p:cNvPr id="3" name="Content Placeholder 2">
            <a:extLst>
              <a:ext uri="{FF2B5EF4-FFF2-40B4-BE49-F238E27FC236}">
                <a16:creationId xmlns:a16="http://schemas.microsoft.com/office/drawing/2014/main" id="{419179D2-8F0F-D62C-CFFA-25B1F8E6CCEB}"/>
              </a:ext>
            </a:extLst>
          </p:cNvPr>
          <p:cNvSpPr>
            <a:spLocks noGrp="1"/>
          </p:cNvSpPr>
          <p:nvPr>
            <p:ph idx="1"/>
          </p:nvPr>
        </p:nvSpPr>
        <p:spPr>
          <a:xfrm>
            <a:off x="845575" y="2487561"/>
            <a:ext cx="10264878" cy="4060723"/>
          </a:xfrm>
        </p:spPr>
        <p:txBody>
          <a:bodyPr>
            <a:normAutofit fontScale="92500" lnSpcReduction="10000"/>
          </a:bodyPr>
          <a:lstStyle/>
          <a:p>
            <a:r>
              <a:rPr lang="en-IN">
                <a:latin typeface="Times" panose="02020603050405020304" pitchFamily="18" charset="0"/>
                <a:cs typeface="Times" panose="02020603050405020304" pitchFamily="18" charset="0"/>
              </a:rPr>
              <a:t>The customer dataset contains several data-quality problems that can affect the accuracy of analysis.</a:t>
            </a:r>
          </a:p>
          <a:p>
            <a:pPr marL="0" indent="0">
              <a:buNone/>
            </a:pPr>
            <a:r>
              <a:rPr lang="en-IN">
                <a:latin typeface="Times" panose="02020603050405020304" pitchFamily="18" charset="0"/>
                <a:cs typeface="Times" panose="02020603050405020304" pitchFamily="18" charset="0"/>
              </a:rPr>
              <a:t>The main problems are:</a:t>
            </a:r>
          </a:p>
          <a:p>
            <a:pPr lvl="0"/>
            <a:r>
              <a:rPr lang="en-IN">
                <a:latin typeface="Times" panose="02020603050405020304" pitchFamily="18" charset="0"/>
                <a:cs typeface="Times" panose="02020603050405020304" pitchFamily="18" charset="0"/>
              </a:rPr>
              <a:t>Duplicate record: Customer C105 appears twice.</a:t>
            </a:r>
          </a:p>
          <a:p>
            <a:pPr lvl="0"/>
            <a:r>
              <a:rPr lang="en-IN">
                <a:latin typeface="Times" panose="02020603050405020304" pitchFamily="18" charset="0"/>
                <a:cs typeface="Times" panose="02020603050405020304" pitchFamily="18" charset="0"/>
              </a:rPr>
              <a:t>Missing Age: C104 and C112 have missing ages.</a:t>
            </a:r>
          </a:p>
          <a:p>
            <a:pPr lvl="0"/>
            <a:r>
              <a:rPr lang="en-IN">
                <a:latin typeface="Times" panose="02020603050405020304" pitchFamily="18" charset="0"/>
                <a:cs typeface="Times" panose="02020603050405020304" pitchFamily="18" charset="0"/>
              </a:rPr>
              <a:t>Invalid Age: Age 150 is unrealistic.</a:t>
            </a:r>
          </a:p>
          <a:p>
            <a:pPr lvl="0"/>
            <a:r>
              <a:rPr lang="en-IN">
                <a:latin typeface="Times" panose="02020603050405020304" pitchFamily="18" charset="0"/>
                <a:cs typeface="Times" panose="02020603050405020304" pitchFamily="18" charset="0"/>
              </a:rPr>
              <a:t>Negative Age: C107 has an age of -5.</a:t>
            </a:r>
          </a:p>
          <a:p>
            <a:pPr lvl="0"/>
            <a:r>
              <a:rPr lang="en-IN">
                <a:latin typeface="Times" panose="02020603050405020304" pitchFamily="18" charset="0"/>
                <a:cs typeface="Times" panose="02020603050405020304" pitchFamily="18" charset="0"/>
              </a:rPr>
              <a:t>Missing Email: C106 and C113 have missing emails.</a:t>
            </a:r>
          </a:p>
          <a:p>
            <a:pPr lvl="0"/>
            <a:r>
              <a:rPr lang="en-IN">
                <a:latin typeface="Times" panose="02020603050405020304" pitchFamily="18" charset="0"/>
                <a:cs typeface="Times" panose="02020603050405020304" pitchFamily="18" charset="0"/>
              </a:rPr>
              <a:t>Uppercase Email: </a:t>
            </a:r>
            <a:r>
              <a:rPr lang="en-IN">
                <a:latin typeface="Times" panose="02020603050405020304" pitchFamily="18" charset="0"/>
                <a:cs typeface="Times" panose="02020603050405020304" pitchFamily="18" charset="0"/>
                <a:hlinkClick r:id="rId2"/>
              </a:rPr>
              <a:t>MEENA@GMAIL.COM</a:t>
            </a:r>
            <a:r>
              <a:rPr lang="en-IN">
                <a:latin typeface="Times" panose="02020603050405020304" pitchFamily="18" charset="0"/>
                <a:cs typeface="Times" panose="02020603050405020304" pitchFamily="18" charset="0"/>
              </a:rPr>
              <a:t> is not consistently formatted.</a:t>
            </a:r>
          </a:p>
          <a:p>
            <a:pPr lvl="0"/>
            <a:r>
              <a:rPr lang="en-IN">
                <a:latin typeface="Times" panose="02020603050405020304" pitchFamily="18" charset="0"/>
                <a:cs typeface="Times" panose="02020603050405020304" pitchFamily="18" charset="0"/>
              </a:rPr>
              <a:t>City Inconsistency: Chennai, chennai, and CHENNAI are used.</a:t>
            </a:r>
          </a:p>
          <a:p>
            <a:pPr lvl="0"/>
            <a:r>
              <a:rPr lang="en-IN">
                <a:latin typeface="Times" panose="02020603050405020304" pitchFamily="18" charset="0"/>
                <a:cs typeface="Times" panose="02020603050405020304" pitchFamily="18" charset="0"/>
              </a:rPr>
              <a:t>City Inconsistency: Madurai and MADURAI are used.</a:t>
            </a:r>
          </a:p>
          <a:p>
            <a:pPr lvl="0"/>
            <a:r>
              <a:rPr lang="en-IN">
                <a:latin typeface="Times" panose="02020603050405020304" pitchFamily="18" charset="0"/>
                <a:cs typeface="Times" panose="02020603050405020304" pitchFamily="18" charset="0"/>
              </a:rPr>
              <a:t>Negative Purchase: C114 has a purchase amount of -5000.</a:t>
            </a:r>
          </a:p>
          <a:p>
            <a:endParaRPr lang="en-IN">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546754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20B15-2983-82B7-121B-D3B9542AFE0B}"/>
              </a:ext>
            </a:extLst>
          </p:cNvPr>
          <p:cNvSpPr>
            <a:spLocks noGrp="1"/>
          </p:cNvSpPr>
          <p:nvPr>
            <p:ph type="title"/>
          </p:nvPr>
        </p:nvSpPr>
        <p:spPr/>
        <p:txBody>
          <a:bodyPr/>
          <a:lstStyle/>
          <a:p>
            <a:r>
              <a:rPr lang="en-IN"/>
              <a:t>6. Proposed Solution</a:t>
            </a:r>
          </a:p>
        </p:txBody>
      </p:sp>
      <p:sp>
        <p:nvSpPr>
          <p:cNvPr id="3" name="Content Placeholder 2">
            <a:extLst>
              <a:ext uri="{FF2B5EF4-FFF2-40B4-BE49-F238E27FC236}">
                <a16:creationId xmlns:a16="http://schemas.microsoft.com/office/drawing/2014/main" id="{DA72514C-C281-4602-B520-F8E85A3B559A}"/>
              </a:ext>
            </a:extLst>
          </p:cNvPr>
          <p:cNvSpPr>
            <a:spLocks noGrp="1"/>
          </p:cNvSpPr>
          <p:nvPr>
            <p:ph idx="1"/>
          </p:nvPr>
        </p:nvSpPr>
        <p:spPr>
          <a:xfrm>
            <a:off x="727587" y="2408904"/>
            <a:ext cx="11631561" cy="4355690"/>
          </a:xfrm>
        </p:spPr>
        <p:txBody>
          <a:bodyPr>
            <a:normAutofit/>
          </a:bodyPr>
          <a:lstStyle/>
          <a:p>
            <a:r>
              <a:rPr lang="en-IN" sz="1600">
                <a:latin typeface="Times" panose="02020603050405020304" pitchFamily="18" charset="0"/>
                <a:cs typeface="Times" panose="02020603050405020304" pitchFamily="18" charset="0"/>
              </a:rPr>
              <a:t>The proposed solution uses Python and Pandas to create an automated data-cleaning pipeline.</a:t>
            </a:r>
          </a:p>
          <a:p>
            <a:pPr marL="0" indent="0">
              <a:buNone/>
            </a:pPr>
            <a:r>
              <a:rPr lang="en-IN" sz="1600">
                <a:latin typeface="Times" panose="02020603050405020304" pitchFamily="18" charset="0"/>
                <a:cs typeface="Times" panose="02020603050405020304" pitchFamily="18" charset="0"/>
              </a:rPr>
              <a:t>The process includes:</a:t>
            </a:r>
          </a:p>
          <a:p>
            <a:pPr lvl="0"/>
            <a:r>
              <a:rPr lang="en-IN" sz="1600">
                <a:latin typeface="Times" panose="02020603050405020304" pitchFamily="18" charset="0"/>
                <a:cs typeface="Times" panose="02020603050405020304" pitchFamily="18" charset="0"/>
              </a:rPr>
              <a:t>Load the customer dataset.</a:t>
            </a:r>
          </a:p>
          <a:p>
            <a:pPr lvl="0"/>
            <a:r>
              <a:rPr lang="en-IN" sz="1600">
                <a:latin typeface="Times" panose="02020603050405020304" pitchFamily="18" charset="0"/>
                <a:cs typeface="Times" panose="02020603050405020304" pitchFamily="18" charset="0"/>
              </a:rPr>
              <a:t>Detect and remove duplicate records.</a:t>
            </a:r>
          </a:p>
          <a:p>
            <a:pPr lvl="0"/>
            <a:r>
              <a:rPr lang="en-IN" sz="1600">
                <a:latin typeface="Times" panose="02020603050405020304" pitchFamily="18" charset="0"/>
                <a:cs typeface="Times" panose="02020603050405020304" pitchFamily="18" charset="0"/>
              </a:rPr>
              <a:t>Identify invalid ages.</a:t>
            </a:r>
          </a:p>
          <a:p>
            <a:pPr lvl="0"/>
            <a:r>
              <a:rPr lang="en-IN" sz="1600">
                <a:latin typeface="Times" panose="02020603050405020304" pitchFamily="18" charset="0"/>
                <a:cs typeface="Times" panose="02020603050405020304" pitchFamily="18" charset="0"/>
              </a:rPr>
              <a:t>Replace missing and invalid ages using the median age.</a:t>
            </a:r>
          </a:p>
          <a:p>
            <a:pPr lvl="0"/>
            <a:r>
              <a:rPr lang="en-IN" sz="1600">
                <a:latin typeface="Times" panose="02020603050405020304" pitchFamily="18" charset="0"/>
                <a:cs typeface="Times" panose="02020603050405020304" pitchFamily="18" charset="0"/>
              </a:rPr>
              <a:t>Replace missing emails with "Unknown".</a:t>
            </a:r>
          </a:p>
          <a:p>
            <a:pPr lvl="0"/>
            <a:r>
              <a:rPr lang="en-IN" sz="1600">
                <a:latin typeface="Times" panose="02020603050405020304" pitchFamily="18" charset="0"/>
                <a:cs typeface="Times" panose="02020603050405020304" pitchFamily="18" charset="0"/>
              </a:rPr>
              <a:t>Convert emails to lowercase.</a:t>
            </a:r>
          </a:p>
          <a:p>
            <a:pPr lvl="0"/>
            <a:r>
              <a:rPr lang="en-IN" sz="1600">
                <a:latin typeface="Times" panose="02020603050405020304" pitchFamily="18" charset="0"/>
                <a:cs typeface="Times" panose="02020603050405020304" pitchFamily="18" charset="0"/>
              </a:rPr>
              <a:t>Standardize city names using proper capitalization.</a:t>
            </a:r>
          </a:p>
          <a:p>
            <a:pPr lvl="0"/>
            <a:r>
              <a:rPr lang="en-IN" sz="1600">
                <a:latin typeface="Times" panose="02020603050405020304" pitchFamily="18" charset="0"/>
                <a:cs typeface="Times" panose="02020603050405020304" pitchFamily="18" charset="0"/>
              </a:rPr>
              <a:t>Detect negative purchase amounts and replace them with 0.</a:t>
            </a:r>
          </a:p>
          <a:p>
            <a:pPr lvl="0"/>
            <a:r>
              <a:rPr lang="en-IN" sz="1600">
                <a:latin typeface="Times" panose="02020603050405020304" pitchFamily="18" charset="0"/>
                <a:cs typeface="Times" panose="02020603050405020304" pitchFamily="18" charset="0"/>
              </a:rPr>
              <a:t>Display the cleaned dataset.</a:t>
            </a:r>
          </a:p>
          <a:p>
            <a:endParaRPr lang="en-IN" sz="160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1062187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5EA7F-E6AB-78AF-AB31-B2C98ACAD74C}"/>
              </a:ext>
            </a:extLst>
          </p:cNvPr>
          <p:cNvSpPr>
            <a:spLocks noGrp="1"/>
          </p:cNvSpPr>
          <p:nvPr>
            <p:ph type="title"/>
          </p:nvPr>
        </p:nvSpPr>
        <p:spPr/>
        <p:txBody>
          <a:bodyPr/>
          <a:lstStyle/>
          <a:p>
            <a:r>
              <a:rPr lang="en-IN"/>
              <a:t>Work flow</a:t>
            </a:r>
          </a:p>
        </p:txBody>
      </p:sp>
      <p:sp>
        <p:nvSpPr>
          <p:cNvPr id="3" name="Content Placeholder 2">
            <a:extLst>
              <a:ext uri="{FF2B5EF4-FFF2-40B4-BE49-F238E27FC236}">
                <a16:creationId xmlns:a16="http://schemas.microsoft.com/office/drawing/2014/main" id="{EF2084CD-A87B-5AC4-9E69-4770858092C1}"/>
              </a:ext>
            </a:extLst>
          </p:cNvPr>
          <p:cNvSpPr>
            <a:spLocks noGrp="1"/>
          </p:cNvSpPr>
          <p:nvPr>
            <p:ph idx="1"/>
          </p:nvPr>
        </p:nvSpPr>
        <p:spPr>
          <a:xfrm>
            <a:off x="380930" y="2025650"/>
            <a:ext cx="10309459" cy="3416300"/>
          </a:xfrm>
        </p:spPr>
        <p:txBody>
          <a:bodyPr>
            <a:noAutofit/>
          </a:bodyPr>
          <a:lstStyle/>
          <a:p>
            <a:r>
              <a:rPr lang="en-IN" b="1"/>
              <a:t>1. Data Input Module</a:t>
            </a:r>
          </a:p>
          <a:p>
            <a:r>
              <a:rPr lang="en-IN"/>
              <a:t>Reads the customer_data.csv file using Pandas.</a:t>
            </a:r>
          </a:p>
          <a:p>
            <a:r>
              <a:rPr lang="en-IN" b="1"/>
              <a:t>2. Duplicate Detection Module</a:t>
            </a:r>
          </a:p>
          <a:p>
            <a:r>
              <a:rPr lang="en-IN"/>
              <a:t>Identifies and removes duplicate customer records.</a:t>
            </a:r>
          </a:p>
          <a:p>
            <a:r>
              <a:rPr lang="en-IN" b="1"/>
              <a:t>3. Missing Value Handling Module</a:t>
            </a:r>
          </a:p>
          <a:p>
            <a:r>
              <a:rPr lang="en-IN"/>
              <a:t>Handles missing age and email values.</a:t>
            </a:r>
          </a:p>
          <a:p>
            <a:r>
              <a:rPr lang="en-IN" b="1"/>
              <a:t>4. Data Validation Module</a:t>
            </a:r>
          </a:p>
          <a:p>
            <a:r>
              <a:rPr lang="en-IN"/>
              <a:t>Detects invalid ages and negative purchase amounts.</a:t>
            </a:r>
          </a:p>
          <a:p>
            <a:r>
              <a:rPr lang="en-IN" b="1"/>
              <a:t>5. Text Standardization Module</a:t>
            </a:r>
          </a:p>
          <a:p>
            <a:r>
              <a:rPr lang="en-IN"/>
              <a:t>Converts emails to lowercase and standardizes city names.</a:t>
            </a:r>
          </a:p>
          <a:p>
            <a:r>
              <a:rPr lang="en-IN" b="1"/>
              <a:t>6. Output Module</a:t>
            </a:r>
          </a:p>
          <a:p>
            <a:r>
              <a:rPr lang="en-IN"/>
              <a:t>Displays the final cleaned dataset for further analysis.</a:t>
            </a:r>
          </a:p>
          <a:p>
            <a:endParaRPr lang="en-IN"/>
          </a:p>
          <a:p>
            <a:endParaRPr lang="en-IN"/>
          </a:p>
        </p:txBody>
      </p:sp>
    </p:spTree>
    <p:extLst>
      <p:ext uri="{BB962C8B-B14F-4D97-AF65-F5344CB8AC3E}">
        <p14:creationId xmlns:p14="http://schemas.microsoft.com/office/powerpoint/2010/main" val="2424439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F5236-B232-2133-3760-7254C7130314}"/>
              </a:ext>
            </a:extLst>
          </p:cNvPr>
          <p:cNvSpPr>
            <a:spLocks noGrp="1"/>
          </p:cNvSpPr>
          <p:nvPr>
            <p:ph type="title"/>
          </p:nvPr>
        </p:nvSpPr>
        <p:spPr/>
        <p:txBody>
          <a:bodyPr/>
          <a:lstStyle/>
          <a:p>
            <a:r>
              <a:rPr lang="en-IN"/>
              <a:t>Code working</a:t>
            </a:r>
          </a:p>
        </p:txBody>
      </p:sp>
      <p:sp>
        <p:nvSpPr>
          <p:cNvPr id="3" name="Content Placeholder 2">
            <a:extLst>
              <a:ext uri="{FF2B5EF4-FFF2-40B4-BE49-F238E27FC236}">
                <a16:creationId xmlns:a16="http://schemas.microsoft.com/office/drawing/2014/main" id="{99166F82-4691-7F4F-5486-963DA6DDF40B}"/>
              </a:ext>
            </a:extLst>
          </p:cNvPr>
          <p:cNvSpPr>
            <a:spLocks noGrp="1"/>
          </p:cNvSpPr>
          <p:nvPr>
            <p:ph idx="1"/>
          </p:nvPr>
        </p:nvSpPr>
        <p:spPr>
          <a:xfrm>
            <a:off x="958309" y="2328197"/>
            <a:ext cx="10073485" cy="3807132"/>
          </a:xfrm>
        </p:spPr>
        <p:txBody>
          <a:bodyPr>
            <a:noAutofit/>
          </a:bodyPr>
          <a:lstStyle/>
          <a:p>
            <a:r>
              <a:rPr lang="en-IN" sz="1600" b="1"/>
              <a:t>1. Read CSV – pd.read_csv()</a:t>
            </a:r>
          </a:p>
          <a:p>
            <a:pPr lvl="0"/>
            <a:r>
              <a:rPr lang="en-IN" sz="1600"/>
              <a:t>Reads the customer_data.csv file and loads it into a Pandas DataFrame.</a:t>
            </a:r>
          </a:p>
          <a:p>
            <a:pPr lvl="0"/>
            <a:r>
              <a:rPr lang="en-IN" sz="1600"/>
              <a:t>Allows Python to access and process the customer data.</a:t>
            </a:r>
          </a:p>
          <a:p>
            <a:r>
              <a:rPr lang="en-IN" sz="1600" b="1"/>
              <a:t>2. Remove Duplicates – drop_duplicates()</a:t>
            </a:r>
          </a:p>
          <a:p>
            <a:pPr lvl="0"/>
            <a:r>
              <a:rPr lang="en-IN" sz="1600"/>
              <a:t>Detects and removes duplicate records from the dataset.</a:t>
            </a:r>
          </a:p>
          <a:p>
            <a:pPr lvl="0"/>
            <a:r>
              <a:rPr lang="en-IN" sz="1600"/>
              <a:t>The duplicate record of customer </a:t>
            </a:r>
            <a:r>
              <a:rPr lang="en-IN" sz="1600" b="1"/>
              <a:t>C105</a:t>
            </a:r>
            <a:r>
              <a:rPr lang="en-IN" sz="1600"/>
              <a:t> is removed.</a:t>
            </a:r>
          </a:p>
          <a:p>
            <a:r>
              <a:rPr lang="en-IN" sz="1600" b="1"/>
              <a:t>3. Select and Modify Data – loc[]</a:t>
            </a:r>
          </a:p>
          <a:p>
            <a:pPr lvl="0"/>
            <a:r>
              <a:rPr lang="en-IN" sz="1600"/>
              <a:t>Selects specific rows and columns based on a condition.</a:t>
            </a:r>
          </a:p>
          <a:p>
            <a:pPr lvl="0"/>
            <a:r>
              <a:rPr lang="en-IN" sz="1600"/>
              <a:t>Used to identify invalid ages and negative purchase amounts.</a:t>
            </a:r>
          </a:p>
          <a:p>
            <a:r>
              <a:rPr lang="en-IN" sz="1600" b="1"/>
              <a:t>4. Handle Invalid Ages – pd.NA</a:t>
            </a:r>
          </a:p>
          <a:p>
            <a:pPr lvl="0"/>
            <a:r>
              <a:rPr lang="en-IN" sz="1600"/>
              <a:t>Ages below 1 or above 100 are considered invalid.</a:t>
            </a:r>
          </a:p>
          <a:p>
            <a:pPr lvl="0"/>
            <a:r>
              <a:rPr lang="en-IN" sz="1600"/>
              <a:t>Invalid ages such as </a:t>
            </a:r>
            <a:r>
              <a:rPr lang="en-IN" sz="1600" b="1"/>
              <a:t>150 and -5</a:t>
            </a:r>
            <a:r>
              <a:rPr lang="en-IN" sz="1600"/>
              <a:t> are converted into missing values.</a:t>
            </a:r>
          </a:p>
          <a:p>
            <a:endParaRPr lang="en-IN" sz="1600"/>
          </a:p>
        </p:txBody>
      </p:sp>
    </p:spTree>
    <p:extLst>
      <p:ext uri="{BB962C8B-B14F-4D97-AF65-F5344CB8AC3E}">
        <p14:creationId xmlns:p14="http://schemas.microsoft.com/office/powerpoint/2010/main" val="3894619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ED3B3-C2CF-5402-8248-31CDAAF80025}"/>
              </a:ext>
            </a:extLst>
          </p:cNvPr>
          <p:cNvSpPr>
            <a:spLocks noGrp="1"/>
          </p:cNvSpPr>
          <p:nvPr>
            <p:ph type="title"/>
          </p:nvPr>
        </p:nvSpPr>
        <p:spPr/>
        <p:txBody>
          <a:bodyPr/>
          <a:lstStyle/>
          <a:p>
            <a:r>
              <a:rPr lang="en-IN"/>
              <a:t>code working</a:t>
            </a:r>
          </a:p>
        </p:txBody>
      </p:sp>
      <p:sp>
        <p:nvSpPr>
          <p:cNvPr id="3" name="Content Placeholder 2">
            <a:extLst>
              <a:ext uri="{FF2B5EF4-FFF2-40B4-BE49-F238E27FC236}">
                <a16:creationId xmlns:a16="http://schemas.microsoft.com/office/drawing/2014/main" id="{6F28EDF4-AD94-49DE-6459-EB213BF50700}"/>
              </a:ext>
            </a:extLst>
          </p:cNvPr>
          <p:cNvSpPr>
            <a:spLocks noGrp="1"/>
          </p:cNvSpPr>
          <p:nvPr>
            <p:ph idx="1"/>
          </p:nvPr>
        </p:nvSpPr>
        <p:spPr>
          <a:xfrm>
            <a:off x="462116" y="2379406"/>
            <a:ext cx="11533239" cy="4478594"/>
          </a:xfrm>
        </p:spPr>
        <p:txBody>
          <a:bodyPr>
            <a:normAutofit fontScale="62500" lnSpcReduction="20000"/>
          </a:bodyPr>
          <a:lstStyle/>
          <a:p>
            <a:r>
              <a:rPr lang="en-IN" sz="2900" b="1"/>
              <a:t>5. Calculate Median – median()</a:t>
            </a:r>
          </a:p>
          <a:p>
            <a:pPr lvl="0"/>
            <a:r>
              <a:rPr lang="en-IN" sz="2900"/>
              <a:t>Calculates the middle value of the valid age data.</a:t>
            </a:r>
          </a:p>
          <a:p>
            <a:pPr lvl="0"/>
            <a:r>
              <a:rPr lang="en-IN" sz="2900"/>
              <a:t>The median is used to replace missing and invalid ages.</a:t>
            </a:r>
          </a:p>
          <a:p>
            <a:r>
              <a:rPr lang="en-IN" sz="2900" b="1"/>
              <a:t>6. Fill Missing Values – fillna()</a:t>
            </a:r>
          </a:p>
          <a:p>
            <a:pPr lvl="0"/>
            <a:r>
              <a:rPr lang="en-IN" sz="2900"/>
              <a:t>Replaces missing values with a specified value.</a:t>
            </a:r>
          </a:p>
          <a:p>
            <a:pPr lvl="0"/>
            <a:r>
              <a:rPr lang="en-IN" sz="2900"/>
              <a:t>Missing ages are replaced with the median, while missing emails are replaced with </a:t>
            </a:r>
            <a:r>
              <a:rPr lang="en-IN" sz="2900" b="1"/>
              <a:t>"Unknown"</a:t>
            </a:r>
            <a:r>
              <a:rPr lang="en-IN" sz="2900"/>
              <a:t>.</a:t>
            </a:r>
          </a:p>
          <a:p>
            <a:r>
              <a:rPr lang="en-IN" sz="2900" b="1"/>
              <a:t>7. Convert Text to Lowercase – str.lower()</a:t>
            </a:r>
          </a:p>
          <a:p>
            <a:pPr lvl="0"/>
            <a:r>
              <a:rPr lang="en-IN" sz="2900"/>
              <a:t>Converts all email addresses into lowercase.</a:t>
            </a:r>
          </a:p>
          <a:p>
            <a:pPr lvl="0"/>
            <a:r>
              <a:rPr lang="en-IN" sz="2900"/>
              <a:t>Example: MEENA@GMAIL.COM becomes meena@gmail.com.</a:t>
            </a:r>
          </a:p>
          <a:p>
            <a:r>
              <a:rPr lang="en-IN" sz="2900" b="1"/>
              <a:t>8. Remove Extra Spaces – str.strip()</a:t>
            </a:r>
          </a:p>
          <a:p>
            <a:pPr lvl="0"/>
            <a:r>
              <a:rPr lang="en-IN" sz="2900"/>
              <a:t>Removes unnecessary spaces from the beginning and end of text.</a:t>
            </a:r>
          </a:p>
          <a:p>
            <a:pPr lvl="0"/>
            <a:r>
              <a:rPr lang="en-IN" sz="2900"/>
              <a:t>Helps maintain clean and consistent text values.</a:t>
            </a:r>
          </a:p>
          <a:p>
            <a:pPr marL="0" lvl="0" indent="0">
              <a:buNone/>
            </a:pPr>
            <a:endParaRPr lang="en-IN" sz="2900"/>
          </a:p>
          <a:p>
            <a:endParaRPr lang="en-IN"/>
          </a:p>
        </p:txBody>
      </p:sp>
    </p:spTree>
    <p:extLst>
      <p:ext uri="{BB962C8B-B14F-4D97-AF65-F5344CB8AC3E}">
        <p14:creationId xmlns:p14="http://schemas.microsoft.com/office/powerpoint/2010/main" val="2211351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E7108-9C29-DAD2-6729-C3B7F2022712}"/>
              </a:ext>
            </a:extLst>
          </p:cNvPr>
          <p:cNvSpPr>
            <a:spLocks noGrp="1"/>
          </p:cNvSpPr>
          <p:nvPr>
            <p:ph type="title"/>
          </p:nvPr>
        </p:nvSpPr>
        <p:spPr/>
        <p:txBody>
          <a:bodyPr/>
          <a:lstStyle/>
          <a:p>
            <a:r>
              <a:rPr lang="en-IN"/>
              <a:t>Code explanation</a:t>
            </a:r>
          </a:p>
        </p:txBody>
      </p:sp>
      <p:sp>
        <p:nvSpPr>
          <p:cNvPr id="3" name="Content Placeholder 2">
            <a:extLst>
              <a:ext uri="{FF2B5EF4-FFF2-40B4-BE49-F238E27FC236}">
                <a16:creationId xmlns:a16="http://schemas.microsoft.com/office/drawing/2014/main" id="{A5B59F10-B484-CC2E-480A-BCF7F61BA43D}"/>
              </a:ext>
            </a:extLst>
          </p:cNvPr>
          <p:cNvSpPr>
            <a:spLocks noGrp="1"/>
          </p:cNvSpPr>
          <p:nvPr>
            <p:ph idx="1"/>
          </p:nvPr>
        </p:nvSpPr>
        <p:spPr/>
        <p:txBody>
          <a:bodyPr>
            <a:normAutofit lnSpcReduction="10000"/>
          </a:bodyPr>
          <a:lstStyle/>
          <a:p>
            <a:r>
              <a:rPr lang="en-IN" b="1"/>
              <a:t>9. Standardize Text – str.title()</a:t>
            </a:r>
          </a:p>
          <a:p>
            <a:pPr lvl="0"/>
            <a:r>
              <a:rPr lang="en-IN"/>
              <a:t>Converts city names into proper title case.</a:t>
            </a:r>
          </a:p>
          <a:p>
            <a:pPr lvl="0"/>
            <a:r>
              <a:rPr lang="en-IN"/>
              <a:t>chennai, CHENNAI, and Chennai become </a:t>
            </a:r>
            <a:r>
              <a:rPr lang="en-IN" b="1"/>
              <a:t>Chennai</a:t>
            </a:r>
            <a:r>
              <a:rPr lang="en-IN"/>
              <a:t>.</a:t>
            </a:r>
          </a:p>
          <a:p>
            <a:r>
              <a:rPr lang="en-IN" b="1"/>
              <a:t>10. Handle Negative Values – loc[]</a:t>
            </a:r>
          </a:p>
          <a:p>
            <a:pPr lvl="0"/>
            <a:r>
              <a:rPr lang="en-IN"/>
              <a:t>Identifies purchase amounts that are less than zero.</a:t>
            </a:r>
          </a:p>
          <a:p>
            <a:pPr lvl="0"/>
            <a:r>
              <a:rPr lang="en-IN"/>
              <a:t>The invalid purchase amount </a:t>
            </a:r>
            <a:r>
              <a:rPr lang="en-IN" b="1"/>
              <a:t>-5000</a:t>
            </a:r>
            <a:r>
              <a:rPr lang="en-IN"/>
              <a:t> is replaced with </a:t>
            </a:r>
            <a:r>
              <a:rPr lang="en-IN" b="1"/>
              <a:t>0</a:t>
            </a:r>
            <a:r>
              <a:rPr lang="en-IN"/>
              <a:t>.</a:t>
            </a:r>
          </a:p>
          <a:p>
            <a:r>
              <a:rPr lang="en-IN" b="1"/>
              <a:t>11. Display Data – display()</a:t>
            </a:r>
          </a:p>
          <a:p>
            <a:pPr lvl="0"/>
            <a:r>
              <a:rPr lang="en-IN"/>
              <a:t>Displays the cleaned DataFrame in a readable table format.</a:t>
            </a:r>
          </a:p>
          <a:p>
            <a:pPr lvl="0"/>
            <a:r>
              <a:rPr lang="en-IN"/>
              <a:t>Helps verify that all data-cleaning operations were successfully performed.</a:t>
            </a:r>
          </a:p>
          <a:p>
            <a:endParaRPr lang="en-IN"/>
          </a:p>
        </p:txBody>
      </p:sp>
    </p:spTree>
    <p:extLst>
      <p:ext uri="{BB962C8B-B14F-4D97-AF65-F5344CB8AC3E}">
        <p14:creationId xmlns:p14="http://schemas.microsoft.com/office/powerpoint/2010/main" val="252057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9EA5-94E7-7D52-45D2-18298539DD1A}"/>
              </a:ext>
            </a:extLst>
          </p:cNvPr>
          <p:cNvSpPr>
            <a:spLocks noGrp="1"/>
          </p:cNvSpPr>
          <p:nvPr>
            <p:ph type="title"/>
          </p:nvPr>
        </p:nvSpPr>
        <p:spPr/>
        <p:txBody>
          <a:bodyPr/>
          <a:lstStyle/>
          <a:p>
            <a:r>
              <a:rPr lang="en-IN"/>
              <a:t>output</a:t>
            </a:r>
          </a:p>
        </p:txBody>
      </p:sp>
      <p:pic>
        <p:nvPicPr>
          <p:cNvPr id="7" name="Picture 6">
            <a:extLst>
              <a:ext uri="{FF2B5EF4-FFF2-40B4-BE49-F238E27FC236}">
                <a16:creationId xmlns:a16="http://schemas.microsoft.com/office/drawing/2014/main" id="{352E1176-CAC0-97BC-92EF-1B9556F1D593}"/>
              </a:ext>
            </a:extLst>
          </p:cNvPr>
          <p:cNvPicPr>
            <a:picLocks noChangeAspect="1"/>
          </p:cNvPicPr>
          <p:nvPr/>
        </p:nvPicPr>
        <p:blipFill>
          <a:blip r:embed="rId2"/>
          <a:stretch>
            <a:fillRect/>
          </a:stretch>
        </p:blipFill>
        <p:spPr>
          <a:xfrm>
            <a:off x="2607954" y="2709086"/>
            <a:ext cx="6395399" cy="3465571"/>
          </a:xfrm>
          <a:prstGeom prst="rect">
            <a:avLst/>
          </a:prstGeom>
        </p:spPr>
      </p:pic>
    </p:spTree>
    <p:extLst>
      <p:ext uri="{BB962C8B-B14F-4D97-AF65-F5344CB8AC3E}">
        <p14:creationId xmlns:p14="http://schemas.microsoft.com/office/powerpoint/2010/main" val="4008541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48416-542C-8C1B-2554-D8FF9A46850E}"/>
              </a:ext>
            </a:extLst>
          </p:cNvPr>
          <p:cNvSpPr>
            <a:spLocks noGrp="1"/>
          </p:cNvSpPr>
          <p:nvPr>
            <p:ph type="title"/>
          </p:nvPr>
        </p:nvSpPr>
        <p:spPr/>
        <p:txBody>
          <a:bodyPr/>
          <a:lstStyle/>
          <a:p>
            <a:r>
              <a:rPr lang="en-IN"/>
              <a:t>output</a:t>
            </a:r>
          </a:p>
        </p:txBody>
      </p:sp>
      <p:pic>
        <p:nvPicPr>
          <p:cNvPr id="5" name="Content Placeholder 4">
            <a:extLst>
              <a:ext uri="{FF2B5EF4-FFF2-40B4-BE49-F238E27FC236}">
                <a16:creationId xmlns:a16="http://schemas.microsoft.com/office/drawing/2014/main" id="{59A22191-DDB4-2014-4FF5-98B79F60FBBE}"/>
              </a:ext>
            </a:extLst>
          </p:cNvPr>
          <p:cNvPicPr>
            <a:picLocks noGrp="1" noChangeAspect="1"/>
          </p:cNvPicPr>
          <p:nvPr>
            <p:ph idx="1"/>
          </p:nvPr>
        </p:nvPicPr>
        <p:blipFill>
          <a:blip r:embed="rId2"/>
          <a:stretch>
            <a:fillRect/>
          </a:stretch>
        </p:blipFill>
        <p:spPr>
          <a:xfrm>
            <a:off x="6371305" y="2463478"/>
            <a:ext cx="5421833" cy="4082136"/>
          </a:xfrm>
          <a:prstGeom prst="rect">
            <a:avLst/>
          </a:prstGeom>
        </p:spPr>
      </p:pic>
      <p:pic>
        <p:nvPicPr>
          <p:cNvPr id="6" name="Content Placeholder 4">
            <a:extLst>
              <a:ext uri="{FF2B5EF4-FFF2-40B4-BE49-F238E27FC236}">
                <a16:creationId xmlns:a16="http://schemas.microsoft.com/office/drawing/2014/main" id="{46736948-4A06-1CB7-D3F5-F8253804D7B0}"/>
              </a:ext>
            </a:extLst>
          </p:cNvPr>
          <p:cNvPicPr>
            <a:picLocks noChangeAspect="1"/>
          </p:cNvPicPr>
          <p:nvPr/>
        </p:nvPicPr>
        <p:blipFill>
          <a:blip r:embed="rId3"/>
          <a:stretch>
            <a:fillRect/>
          </a:stretch>
        </p:blipFill>
        <p:spPr>
          <a:xfrm>
            <a:off x="737420" y="2390113"/>
            <a:ext cx="5083277" cy="4155501"/>
          </a:xfrm>
          <a:prstGeom prst="rect">
            <a:avLst/>
          </a:prstGeom>
        </p:spPr>
      </p:pic>
    </p:spTree>
    <p:extLst>
      <p:ext uri="{BB962C8B-B14F-4D97-AF65-F5344CB8AC3E}">
        <p14:creationId xmlns:p14="http://schemas.microsoft.com/office/powerpoint/2010/main" val="451122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6B39D-EFDF-91ED-69D6-F378698AE9A3}"/>
              </a:ext>
            </a:extLst>
          </p:cNvPr>
          <p:cNvSpPr>
            <a:spLocks noGrp="1"/>
          </p:cNvSpPr>
          <p:nvPr>
            <p:ph type="title"/>
          </p:nvPr>
        </p:nvSpPr>
        <p:spPr/>
        <p:txBody>
          <a:bodyPr/>
          <a:lstStyle/>
          <a:p>
            <a:r>
              <a:rPr lang="en-IN" b="1"/>
              <a:t>8. Observations and Result</a:t>
            </a:r>
          </a:p>
        </p:txBody>
      </p:sp>
      <p:sp>
        <p:nvSpPr>
          <p:cNvPr id="3" name="Content Placeholder 2">
            <a:extLst>
              <a:ext uri="{FF2B5EF4-FFF2-40B4-BE49-F238E27FC236}">
                <a16:creationId xmlns:a16="http://schemas.microsoft.com/office/drawing/2014/main" id="{5BD786FF-27B6-1425-0DB0-A0E5E4295ED8}"/>
              </a:ext>
            </a:extLst>
          </p:cNvPr>
          <p:cNvSpPr>
            <a:spLocks noGrp="1"/>
          </p:cNvSpPr>
          <p:nvPr>
            <p:ph idx="1"/>
          </p:nvPr>
        </p:nvSpPr>
        <p:spPr>
          <a:xfrm>
            <a:off x="1154954" y="2387596"/>
            <a:ext cx="10191472" cy="4339168"/>
          </a:xfrm>
        </p:spPr>
        <p:txBody>
          <a:bodyPr>
            <a:normAutofit/>
          </a:bodyPr>
          <a:lstStyle/>
          <a:p>
            <a:r>
              <a:rPr lang="en-IN" sz="1600">
                <a:latin typeface="Times" panose="02020603050405020304" pitchFamily="18" charset="0"/>
                <a:cs typeface="Times" panose="02020603050405020304" pitchFamily="18" charset="0"/>
              </a:rPr>
              <a:t>Before cleaning, the dataset contains 15 records and several data-quality problems.</a:t>
            </a:r>
          </a:p>
          <a:p>
            <a:pPr marL="0" indent="0">
              <a:buNone/>
            </a:pPr>
            <a:r>
              <a:rPr lang="en-IN" sz="1600">
                <a:latin typeface="Times" panose="02020603050405020304" pitchFamily="18" charset="0"/>
                <a:cs typeface="Times" panose="02020603050405020304" pitchFamily="18" charset="0"/>
              </a:rPr>
              <a:t>After cleaning:</a:t>
            </a:r>
          </a:p>
          <a:p>
            <a:pPr lvl="0"/>
            <a:r>
              <a:rPr lang="en-IN" sz="1600">
                <a:latin typeface="Times" panose="02020603050405020304" pitchFamily="18" charset="0"/>
                <a:cs typeface="Times" panose="02020603050405020304" pitchFamily="18" charset="0"/>
              </a:rPr>
              <a:t>Duplicate C105 is removed.</a:t>
            </a:r>
          </a:p>
          <a:p>
            <a:pPr lvl="0"/>
            <a:r>
              <a:rPr lang="en-IN" sz="1600">
                <a:latin typeface="Times" panose="02020603050405020304" pitchFamily="18" charset="0"/>
                <a:cs typeface="Times" panose="02020603050405020304" pitchFamily="18" charset="0"/>
              </a:rPr>
              <a:t>The dataset contains 14 records.</a:t>
            </a:r>
          </a:p>
          <a:p>
            <a:pPr lvl="0"/>
            <a:r>
              <a:rPr lang="en-IN" sz="1600">
                <a:latin typeface="Times" panose="02020603050405020304" pitchFamily="18" charset="0"/>
                <a:cs typeface="Times" panose="02020603050405020304" pitchFamily="18" charset="0"/>
              </a:rPr>
              <a:t>Missing and invalid ages are handled using median imputation.</a:t>
            </a:r>
          </a:p>
          <a:p>
            <a:pPr lvl="0"/>
            <a:r>
              <a:rPr lang="en-IN" sz="1600">
                <a:latin typeface="Times" panose="02020603050405020304" pitchFamily="18" charset="0"/>
                <a:cs typeface="Times" panose="02020603050405020304" pitchFamily="18" charset="0"/>
              </a:rPr>
              <a:t>Missing emails are replaced with "Unknown".</a:t>
            </a:r>
          </a:p>
          <a:p>
            <a:pPr lvl="0"/>
            <a:r>
              <a:rPr lang="en-IN" sz="1600">
                <a:latin typeface="Times" panose="02020603050405020304" pitchFamily="18" charset="0"/>
                <a:cs typeface="Times" panose="02020603050405020304" pitchFamily="18" charset="0"/>
              </a:rPr>
              <a:t>Emails are converted to lowercase.</a:t>
            </a:r>
          </a:p>
          <a:p>
            <a:pPr lvl="0"/>
            <a:r>
              <a:rPr lang="en-IN" sz="1600">
                <a:latin typeface="Times" panose="02020603050405020304" pitchFamily="18" charset="0"/>
                <a:cs typeface="Times" panose="02020603050405020304" pitchFamily="18" charset="0"/>
              </a:rPr>
              <a:t>City names are standardized to Chennai, Madurai, and Coimbatore.</a:t>
            </a:r>
          </a:p>
          <a:p>
            <a:pPr lvl="0"/>
            <a:r>
              <a:rPr lang="en-IN" sz="1600">
                <a:latin typeface="Times" panose="02020603050405020304" pitchFamily="18" charset="0"/>
                <a:cs typeface="Times" panose="02020603050405020304" pitchFamily="18" charset="0"/>
              </a:rPr>
              <a:t>The negative purchase amount of -5000 is replaced with 0.</a:t>
            </a:r>
          </a:p>
          <a:p>
            <a:pPr lvl="0"/>
            <a:r>
              <a:rPr lang="en-IN" sz="1600">
                <a:latin typeface="Times" panose="02020603050405020304" pitchFamily="18" charset="0"/>
                <a:cs typeface="Times" panose="02020603050405020304" pitchFamily="18" charset="0"/>
              </a:rPr>
              <a:t>The resulting dataset is more consistent and suitable for analysis.</a:t>
            </a:r>
          </a:p>
          <a:p>
            <a:endParaRPr lang="en-IN" sz="160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1921500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1BC5F-5FCA-FDC0-27CC-A5A86612809B}"/>
              </a:ext>
            </a:extLst>
          </p:cNvPr>
          <p:cNvSpPr>
            <a:spLocks noGrp="1"/>
          </p:cNvSpPr>
          <p:nvPr>
            <p:ph type="title"/>
          </p:nvPr>
        </p:nvSpPr>
        <p:spPr/>
        <p:txBody>
          <a:bodyPr/>
          <a:lstStyle/>
          <a:p>
            <a:r>
              <a:rPr lang="en-IN"/>
              <a:t>9. Conclusion</a:t>
            </a:r>
          </a:p>
        </p:txBody>
      </p:sp>
      <p:sp>
        <p:nvSpPr>
          <p:cNvPr id="3" name="Content Placeholder 2">
            <a:extLst>
              <a:ext uri="{FF2B5EF4-FFF2-40B4-BE49-F238E27FC236}">
                <a16:creationId xmlns:a16="http://schemas.microsoft.com/office/drawing/2014/main" id="{6878A489-3EE4-6434-64F7-A7315B8A2649}"/>
              </a:ext>
            </a:extLst>
          </p:cNvPr>
          <p:cNvSpPr>
            <a:spLocks noGrp="1"/>
          </p:cNvSpPr>
          <p:nvPr>
            <p:ph idx="1"/>
          </p:nvPr>
        </p:nvSpPr>
        <p:spPr/>
        <p:txBody>
          <a:bodyPr/>
          <a:lstStyle/>
          <a:p>
            <a:r>
              <a:rPr lang="en-IN">
                <a:latin typeface="Times" panose="02020603050405020304" pitchFamily="18" charset="0"/>
                <a:cs typeface="Times" panose="02020603050405020304" pitchFamily="18" charset="0"/>
              </a:rPr>
              <a:t>Python and Pandas can effectively automate common data-cleaning tasks. The proposed system successfully handles duplicate records, missing values, invalid values, negative values, and inconsistent text formatting.</a:t>
            </a:r>
          </a:p>
          <a:p>
            <a:r>
              <a:rPr lang="en-IN">
                <a:latin typeface="Times" panose="02020603050405020304" pitchFamily="18" charset="0"/>
                <a:cs typeface="Times" panose="02020603050405020304" pitchFamily="18" charset="0"/>
              </a:rPr>
              <a:t>Automating these operations reduces manual effort and improves data consistency. The same approach can be applied to larger customer, sales, business, and machine-learning datasets.</a:t>
            </a:r>
          </a:p>
          <a:p>
            <a:r>
              <a:rPr lang="en-IN">
                <a:latin typeface="Times" panose="02020603050405020304" pitchFamily="18" charset="0"/>
                <a:cs typeface="Times" panose="02020603050405020304" pitchFamily="18" charset="0"/>
              </a:rPr>
              <a:t>Clean and reliable data provides a strong foundation for accurate analysis and better decision-making.</a:t>
            </a:r>
          </a:p>
          <a:p>
            <a:endParaRPr lang="en-IN">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1098680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30E52-BB1C-E58C-1DAB-CE7FD4E41824}"/>
              </a:ext>
            </a:extLst>
          </p:cNvPr>
          <p:cNvSpPr>
            <a:spLocks noGrp="1"/>
          </p:cNvSpPr>
          <p:nvPr>
            <p:ph type="title"/>
          </p:nvPr>
        </p:nvSpPr>
        <p:spPr/>
        <p:txBody>
          <a:bodyPr/>
          <a:lstStyle/>
          <a:p>
            <a:r>
              <a:rPr lang="en-US"/>
              <a:t>Presented photo</a:t>
            </a:r>
            <a:endParaRPr lang="en-IN"/>
          </a:p>
        </p:txBody>
      </p:sp>
      <p:pic>
        <p:nvPicPr>
          <p:cNvPr id="5" name="Content Placeholder 4">
            <a:extLst>
              <a:ext uri="{FF2B5EF4-FFF2-40B4-BE49-F238E27FC236}">
                <a16:creationId xmlns:a16="http://schemas.microsoft.com/office/drawing/2014/main" id="{C43D350F-1C01-8521-B10A-6C89FF14385D}"/>
              </a:ext>
            </a:extLst>
          </p:cNvPr>
          <p:cNvPicPr>
            <a:picLocks noGrp="1" noChangeAspect="1"/>
          </p:cNvPicPr>
          <p:nvPr>
            <p:ph idx="1"/>
          </p:nvPr>
        </p:nvPicPr>
        <p:blipFill>
          <a:blip r:embed="rId2"/>
          <a:stretch>
            <a:fillRect/>
          </a:stretch>
        </p:blipFill>
        <p:spPr>
          <a:xfrm>
            <a:off x="3359448" y="2529144"/>
            <a:ext cx="5027468" cy="3770601"/>
          </a:xfrm>
          <a:prstGeom prst="rect">
            <a:avLst/>
          </a:prstGeom>
        </p:spPr>
      </p:pic>
    </p:spTree>
    <p:extLst>
      <p:ext uri="{BB962C8B-B14F-4D97-AF65-F5344CB8AC3E}">
        <p14:creationId xmlns:p14="http://schemas.microsoft.com/office/powerpoint/2010/main" val="15681632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{7F45CAA0-9AA6-45EE-B9D8-CDB888F04062}TF229edf6a-8a49-49ee-a0a6-5037052947485fb3ca0c-bc27bf41d645</Template>
  <TotalTime>47</TotalTime>
  <Words>1139</Words>
  <Application>Microsoft Office PowerPoint</Application>
  <PresentationFormat>Widescreen</PresentationFormat>
  <Paragraphs>120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Century Gothic</vt:lpstr>
      <vt:lpstr>Times</vt:lpstr>
      <vt:lpstr>Times New Roman</vt:lpstr>
      <vt:lpstr>Wingdings 3</vt:lpstr>
      <vt:lpstr>Ion Boardroom</vt:lpstr>
      <vt:lpstr>PowerPoint Presentation</vt:lpstr>
      <vt:lpstr>1. Abstract </vt:lpstr>
      <vt:lpstr>2. Introduction</vt:lpstr>
      <vt:lpstr>3. Literature Review</vt:lpstr>
      <vt:lpstr>4. Objectives</vt:lpstr>
      <vt:lpstr>5. Problem Statement</vt:lpstr>
      <vt:lpstr>6. Proposed Solution</vt:lpstr>
      <vt:lpstr>Work flow</vt:lpstr>
      <vt:lpstr>Code working</vt:lpstr>
      <vt:lpstr>code working</vt:lpstr>
      <vt:lpstr>Code explanation</vt:lpstr>
      <vt:lpstr>output</vt:lpstr>
      <vt:lpstr>output</vt:lpstr>
      <vt:lpstr>8. Observations and Result</vt:lpstr>
      <vt:lpstr>9. Conclusion</vt:lpstr>
      <vt:lpstr>Presented photo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 haran</dc:creator>
  <cp:lastModifiedBy>hari haran</cp:lastModifiedBy>
  <cp:revision>2</cp:revision>
  <dcterms:created xsi:type="dcterms:W3CDTF">2026-08-11T08:16:50Z</dcterms:created>
  <dcterms:modified xsi:type="dcterms:W3CDTF">2026-08-13T03:46:44Z</dcterms:modified>
</cp:coreProperties>
</file>